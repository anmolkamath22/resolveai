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5836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D6B0"/>
                </a:solidFill>
                <a:latin typeface="Aptos"/>
              </a:defRPr>
            </a:pPr>
            <a:r>
              <a:t>RESOLVEAI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73152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EEF6FD"/>
                </a:solidFill>
                <a:latin typeface="Aptos"/>
              </a:defRPr>
            </a:pPr>
            <a:r>
              <a:t>Autonomous resolution,</a:t>
            </a:r>
            <a:br/>
            <a:r>
              <a:t>visibly grounded.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761488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96B4CC"/>
                </a:solidFill>
                <a:latin typeface="Aptos"/>
              </a:defRPr>
            </a:pPr>
            <a:r>
              <a:t>An agentic customer-operations system that investigates, acts through controlled tools, adapts to real constraints, and verifies outcomes.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55279" y="960120"/>
            <a:ext cx="3474720" cy="4389120"/>
          </a:xfrm>
          <a:prstGeom prst="roundRect">
            <a:avLst/>
          </a:prstGeom>
          <a:solidFill>
            <a:srgbClr val="0D2033"/>
          </a:solidFill>
          <a:ln>
            <a:solidFill>
              <a:srgbClr val="0D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21040" y="13716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54A9FF"/>
                </a:solidFill>
                <a:latin typeface="Aptos"/>
              </a:defRPr>
            </a:pPr>
            <a:r>
              <a:t>OBSERVE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22402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D6B0"/>
                </a:solidFill>
                <a:latin typeface="Aptos"/>
              </a:defRPr>
            </a:pPr>
            <a:r>
              <a:t>DECIDE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31089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7B955"/>
                </a:solidFill>
                <a:latin typeface="Aptos"/>
              </a:defRPr>
            </a:pPr>
            <a:r>
              <a:t>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3977639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EF6FD"/>
                </a:solidFill>
                <a:latin typeface="Aptos"/>
              </a:defRPr>
            </a:pPr>
            <a:r>
              <a:t>VERIFY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10819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96B4CC"/>
                </a:solidFill>
                <a:latin typeface="Aptos"/>
              </a:defRPr>
            </a:pPr>
            <a:r>
              <a:t>Tech Zephyr 4.0 · Smart Automation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D6B0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EF6FD"/>
                </a:solidFill>
                <a:latin typeface="Aptos"/>
              </a:defRPr>
            </a:pPr>
            <a:r>
              <a:t>Support replies are not customer outcomes.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89888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96B4CC"/>
                </a:solidFill>
                <a:latin typeface="Aptos"/>
              </a:defRPr>
            </a:pPr>
            <a:r>
              <a:t>Traditional chatbots can answer—but cannot safely resolve an operational case.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103120"/>
            <a:ext cx="3474720" cy="2057400"/>
          </a:xfrm>
          <a:prstGeom prst="roundRect">
            <a:avLst/>
          </a:prstGeom>
          <a:solidFill>
            <a:srgbClr val="0D2033"/>
          </a:solidFill>
          <a:ln>
            <a:solidFill>
              <a:srgbClr val="0D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2103120"/>
            <a:ext cx="64008" cy="2057400"/>
          </a:xfrm>
          <a:prstGeom prst="rect">
            <a:avLst/>
          </a:prstGeom>
          <a:solidFill>
            <a:srgbClr val="FF6B73"/>
          </a:solidFill>
          <a:ln>
            <a:solidFill>
              <a:srgbClr val="FF6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226771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EF6FD"/>
                </a:solidFill>
                <a:latin typeface="Aptos"/>
              </a:defRPr>
            </a:pPr>
            <a:r>
              <a:t>No enterprise truth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651760"/>
            <a:ext cx="3063239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96B4CC"/>
                </a:solidFill>
                <a:latin typeface="Aptos"/>
              </a:defRPr>
            </a:pPr>
            <a:r>
              <a:t>Replies often assume order, payment, and inventory facts instead of reading them.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1688" y="2103120"/>
            <a:ext cx="3474720" cy="2057400"/>
          </a:xfrm>
          <a:prstGeom prst="roundRect">
            <a:avLst/>
          </a:prstGeom>
          <a:solidFill>
            <a:srgbClr val="0D2033"/>
          </a:solidFill>
          <a:ln>
            <a:solidFill>
              <a:srgbClr val="0D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61688" y="2103120"/>
            <a:ext cx="64008" cy="2057400"/>
          </a:xfrm>
          <a:prstGeom prst="rect">
            <a:avLst/>
          </a:prstGeom>
          <a:solidFill>
            <a:srgbClr val="F7B955"/>
          </a:solidFill>
          <a:ln>
            <a:solidFill>
              <a:srgbClr val="F7B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226771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EF6FD"/>
                </a:solidFill>
                <a:latin typeface="Aptos"/>
              </a:defRPr>
            </a:pPr>
            <a:r>
              <a:t>No controlled 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651760"/>
            <a:ext cx="3063239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96B4CC"/>
                </a:solidFill>
                <a:latin typeface="Aptos"/>
              </a:defRPr>
            </a:pPr>
            <a:r>
              <a:t>A chat response cannot create a refund, cancel an order, or reserve stock safely.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5008" y="2103120"/>
            <a:ext cx="3474720" cy="2057400"/>
          </a:xfrm>
          <a:prstGeom prst="roundRect">
            <a:avLst/>
          </a:prstGeom>
          <a:solidFill>
            <a:srgbClr val="0D2033"/>
          </a:solidFill>
          <a:ln>
            <a:solidFill>
              <a:srgbClr val="0D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65008" y="2103120"/>
            <a:ext cx="64008" cy="2057400"/>
          </a:xfrm>
          <a:prstGeom prst="rect">
            <a:avLst/>
          </a:prstGeom>
          <a:solidFill>
            <a:srgbClr val="54A9FF"/>
          </a:solidFill>
          <a:ln>
            <a:solidFill>
              <a:srgbClr val="54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8" y="226771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EF6FD"/>
                </a:solidFill>
                <a:latin typeface="Aptos"/>
              </a:defRPr>
            </a:pPr>
            <a:r>
              <a:t>No proof of effect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2651760"/>
            <a:ext cx="3063239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96B4CC"/>
                </a:solidFill>
                <a:latin typeface="Aptos"/>
              </a:defRPr>
            </a:pPr>
            <a:r>
              <a:t>Even a successful action claim is incomplete without an independent state check.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D6B0"/>
                </a:solidFill>
                <a:latin typeface="Aptos"/>
              </a:defRPr>
            </a:pPr>
            <a:r>
              <a:t>THE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EF6FD"/>
                </a:solidFill>
                <a:latin typeface="Aptos"/>
              </a:defRPr>
            </a:pPr>
            <a:r>
              <a:t>A bounded agent loop—not a scripted issue router.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89888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96B4CC"/>
                </a:solidFill>
                <a:latin typeface="Aptos"/>
              </a:defRPr>
            </a:pPr>
            <a:r>
              <a:t>The model selects one tool at a time. Python validates, executes, and enforces policy.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194560"/>
            <a:ext cx="2514600" cy="2423160"/>
          </a:xfrm>
          <a:prstGeom prst="roundRect">
            <a:avLst/>
          </a:prstGeom>
          <a:solidFill>
            <a:srgbClr val="0D2033"/>
          </a:solidFill>
          <a:ln>
            <a:solidFill>
              <a:srgbClr val="0D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239572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38D6B0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85292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EF6FD"/>
                </a:solidFill>
                <a:latin typeface="Aptos"/>
              </a:defRPr>
            </a:pPr>
            <a:r>
              <a:t>Observe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3310128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96B4CC"/>
                </a:solidFill>
                <a:latin typeface="Aptos"/>
              </a:defRPr>
            </a:pPr>
            <a:r>
              <a:t>Customer request + authorized case snapshot + prior tool transcript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2194560"/>
            <a:ext cx="2514600" cy="2423160"/>
          </a:xfrm>
          <a:prstGeom prst="roundRect">
            <a:avLst/>
          </a:prstGeom>
          <a:solidFill>
            <a:srgbClr val="0D2033"/>
          </a:solidFill>
          <a:ln>
            <a:solidFill>
              <a:srgbClr val="0D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239572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38D6B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85292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EF6FD"/>
                </a:solidFill>
                <a:latin typeface="Aptos"/>
              </a:defRPr>
            </a:pPr>
            <a:r>
              <a:t>Ground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3310128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96B4CC"/>
                </a:solidFill>
                <a:latin typeface="Aptos"/>
              </a:defRPr>
            </a:pPr>
            <a:r>
              <a:t>TF-IDF Policy RAG + computed policy gates + Bitext intent hint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82512" y="2194560"/>
            <a:ext cx="2514600" cy="2423160"/>
          </a:xfrm>
          <a:prstGeom prst="roundRect">
            <a:avLst/>
          </a:prstGeom>
          <a:solidFill>
            <a:srgbClr val="0D2033"/>
          </a:solidFill>
          <a:ln>
            <a:solidFill>
              <a:srgbClr val="0D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65392" y="239572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38D6B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285292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EF6FD"/>
                </a:solidFill>
                <a:latin typeface="Aptos"/>
              </a:defRPr>
            </a:pPr>
            <a:r>
              <a:t>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5392" y="3310128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96B4CC"/>
                </a:solidFill>
                <a:latin typeface="Aptos"/>
              </a:defRPr>
            </a:pPr>
            <a:r>
              <a:t>Allow-listed, idempotent enterprise tools mutate only when permitted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44584" y="2194560"/>
            <a:ext cx="2514600" cy="2423160"/>
          </a:xfrm>
          <a:prstGeom prst="roundRect">
            <a:avLst/>
          </a:prstGeom>
          <a:solidFill>
            <a:srgbClr val="0D2033"/>
          </a:solidFill>
          <a:ln>
            <a:solidFill>
              <a:srgbClr val="0D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27464" y="239572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38D6B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27464" y="285292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EF6FD"/>
                </a:solidFill>
                <a:latin typeface="Aptos"/>
              </a:defRPr>
            </a:pPr>
            <a:r>
              <a:t>Verify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27464" y="3310128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96B4CC"/>
                </a:solidFill>
                <a:latin typeface="Aptos"/>
              </a:defRPr>
            </a:pPr>
            <a:r>
              <a:t>Independent DB reads confirm the exact requested state transition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D6B0"/>
                </a:solidFill>
                <a:latin typeface="Aptos"/>
              </a:defRPr>
            </a:pPr>
            <a:r>
              <a:t>SAFETY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EF6FD"/>
                </a:solidFill>
                <a:latin typeface="Aptos"/>
              </a:defRPr>
            </a:pPr>
            <a:r>
              <a:t>Policy interpretation informs. Deterministic rules authorize.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89888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96B4CC"/>
                </a:solidFill>
                <a:latin typeface="Aptos"/>
              </a:defRPr>
            </a:pPr>
            <a:r>
              <a:t>No LLM output and no seed-data boolean can bypass the service gate.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057400"/>
            <a:ext cx="3657600" cy="2834640"/>
          </a:xfrm>
          <a:prstGeom prst="roundRect">
            <a:avLst/>
          </a:prstGeom>
          <a:solidFill>
            <a:srgbClr val="0D2033"/>
          </a:solidFill>
          <a:ln>
            <a:solidFill>
              <a:srgbClr val="0D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2057400"/>
            <a:ext cx="64008" cy="2834640"/>
          </a:xfrm>
          <a:prstGeom prst="rect">
            <a:avLst/>
          </a:prstGeom>
          <a:solidFill>
            <a:srgbClr val="38D6B0"/>
          </a:solidFill>
          <a:ln>
            <a:solidFill>
              <a:srgbClr val="38D6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222199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EF6FD"/>
                </a:solidFill>
                <a:latin typeface="Aptos"/>
              </a:defRPr>
            </a:pPr>
            <a:r>
              <a:t>Computed policy rules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606040"/>
            <a:ext cx="32461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96B4CC"/>
                </a:solidFill>
                <a:latin typeface="Aptos"/>
              </a:defRPr>
            </a:pPr>
            <a:r>
              <a:t>Delivery date → 30-day refund/replacement window</a:t>
            </a:r>
            <a:br/>
            <a:r>
              <a:t>Order &amp; payment state → eligibility</a:t>
            </a:r>
            <a:br/>
            <a:r>
              <a:t>Shipment status → cancellation gate</a:t>
            </a:r>
            <a:br/>
            <a:r>
              <a:t>Amount &gt; ₹20,000 → human approval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2057400"/>
            <a:ext cx="3520440" cy="2834640"/>
          </a:xfrm>
          <a:prstGeom prst="roundRect">
            <a:avLst/>
          </a:prstGeom>
          <a:solidFill>
            <a:srgbClr val="0D2033"/>
          </a:solidFill>
          <a:ln>
            <a:solidFill>
              <a:srgbClr val="0D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15968" y="2057400"/>
            <a:ext cx="64008" cy="2834640"/>
          </a:xfrm>
          <a:prstGeom prst="rect">
            <a:avLst/>
          </a:prstGeom>
          <a:solidFill>
            <a:srgbClr val="54A9FF"/>
          </a:solidFill>
          <a:ln>
            <a:solidFill>
              <a:srgbClr val="54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2221992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EF6FD"/>
                </a:solidFill>
                <a:latin typeface="Aptos"/>
              </a:defRPr>
            </a:pPr>
            <a:r>
              <a:t>Policy RAG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606040"/>
            <a:ext cx="3108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96B4CC"/>
                </a:solidFill>
                <a:latin typeface="Aptos"/>
              </a:defRPr>
            </a:pPr>
            <a:r>
              <a:t>Ranked policy snippets appear in the agent context and UI. Each deterministic gate reports a matching policy reference such as refund-window.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36408" y="2057400"/>
            <a:ext cx="3685032" cy="2834640"/>
          </a:xfrm>
          <a:prstGeom prst="roundRect">
            <a:avLst/>
          </a:prstGeom>
          <a:solidFill>
            <a:srgbClr val="0D2033"/>
          </a:solidFill>
          <a:ln>
            <a:solidFill>
              <a:srgbClr val="0D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36408" y="2057400"/>
            <a:ext cx="64008" cy="2834640"/>
          </a:xfrm>
          <a:prstGeom prst="rect">
            <a:avLst/>
          </a:prstGeom>
          <a:solidFill>
            <a:srgbClr val="F7B955"/>
          </a:solidFill>
          <a:ln>
            <a:solidFill>
              <a:srgbClr val="F7B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65008" y="2221992"/>
            <a:ext cx="3319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EF6FD"/>
                </a:solidFill>
                <a:latin typeface="Aptos"/>
              </a:defRPr>
            </a:pPr>
            <a:r>
              <a:t>Execution controls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65008" y="2606040"/>
            <a:ext cx="3273552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96B4CC"/>
                </a:solidFill>
                <a:latin typeface="Aptos"/>
              </a:defRPr>
            </a:pPr>
            <a:r>
              <a:t>Server-side re-checks</a:t>
            </a:r>
            <a:br/>
            <a:r>
              <a:t>Idempotency keys</a:t>
            </a:r>
            <a:br/>
            <a:r>
              <a:t>Mutation cap</a:t>
            </a:r>
            <a:br/>
            <a:r>
              <a:t>Transient retry once</a:t>
            </a:r>
            <a:br/>
            <a:r>
              <a:t>Circuit breaker</a:t>
            </a:r>
            <a:br/>
            <a:r>
              <a:t>Audit event in the same transaction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D6B0"/>
                </a:solidFill>
                <a:latin typeface="Aptos"/>
              </a:defRPr>
            </a:pPr>
            <a:r>
              <a:t>GENERALIZATION &amp; IDENTITY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EF6FD"/>
                </a:solidFill>
                <a:latin typeface="Aptos"/>
              </a:defRPr>
            </a:pPr>
            <a:r>
              <a:t>Natural language is a hint; authorization is never inferred.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89888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96B4CC"/>
                </a:solidFill>
                <a:latin typeface="Aptos"/>
              </a:defRPr>
            </a:pPr>
            <a:r>
              <a:t>The system remains safe when phrasing is novel, incomplete, or ambiguous.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057400"/>
            <a:ext cx="3520440" cy="2788920"/>
          </a:xfrm>
          <a:prstGeom prst="roundRect">
            <a:avLst/>
          </a:prstGeom>
          <a:solidFill>
            <a:srgbClr val="0D2033"/>
          </a:solidFill>
          <a:ln>
            <a:solidFill>
              <a:srgbClr val="0D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2057400"/>
            <a:ext cx="64008" cy="2788920"/>
          </a:xfrm>
          <a:prstGeom prst="rect">
            <a:avLst/>
          </a:prstGeom>
          <a:solidFill>
            <a:srgbClr val="38D6B0"/>
          </a:solidFill>
          <a:ln>
            <a:solidFill>
              <a:srgbClr val="38D6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2221992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EF6FD"/>
                </a:solidFill>
                <a:latin typeface="Aptos"/>
              </a:defRPr>
            </a:pPr>
            <a:r>
              <a:t>Bitext intent hint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606040"/>
            <a:ext cx="3108960" cy="2148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96B4CC"/>
                </a:solidFill>
                <a:latin typeface="Aptos"/>
              </a:defRPr>
            </a:pPr>
            <a:r>
              <a:t>A committed cache from Bitext’s 26,872 customer-support examples feeds a local TF-IDF classifier. It improves natural-language entity resolution without runtime network calls.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4256" y="2057400"/>
            <a:ext cx="3520440" cy="2788920"/>
          </a:xfrm>
          <a:prstGeom prst="roundRect">
            <a:avLst/>
          </a:prstGeom>
          <a:solidFill>
            <a:srgbClr val="0D2033"/>
          </a:solidFill>
          <a:ln>
            <a:solidFill>
              <a:srgbClr val="0D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34256" y="2057400"/>
            <a:ext cx="64008" cy="2788920"/>
          </a:xfrm>
          <a:prstGeom prst="rect">
            <a:avLst/>
          </a:prstGeom>
          <a:solidFill>
            <a:srgbClr val="54A9FF"/>
          </a:solidFill>
          <a:ln>
            <a:solidFill>
              <a:srgbClr val="54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2856" y="2221992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EF6FD"/>
                </a:solidFill>
                <a:latin typeface="Aptos"/>
              </a:defRPr>
            </a:pPr>
            <a:r>
              <a:t>Exact IDs win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2856" y="2606040"/>
            <a:ext cx="3108960" cy="2148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96B4CC"/>
                </a:solidFill>
                <a:latin typeface="Aptos"/>
              </a:defRPr>
            </a:pPr>
            <a:r>
              <a:t>CASE-### and ORD-### resolution stays authoritative. Intent only narrows candidates after the exact-ID path fails.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0144" y="2057400"/>
            <a:ext cx="3520440" cy="2788920"/>
          </a:xfrm>
          <a:prstGeom prst="roundRect">
            <a:avLst/>
          </a:prstGeom>
          <a:solidFill>
            <a:srgbClr val="0D2033"/>
          </a:solidFill>
          <a:ln>
            <a:solidFill>
              <a:srgbClr val="0D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10144" y="2057400"/>
            <a:ext cx="64008" cy="2788920"/>
          </a:xfrm>
          <a:prstGeom prst="rect">
            <a:avLst/>
          </a:prstGeom>
          <a:solidFill>
            <a:srgbClr val="FF6B73"/>
          </a:solidFill>
          <a:ln>
            <a:solidFill>
              <a:srgbClr val="FF6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38744" y="2221992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EF6FD"/>
                </a:solidFill>
                <a:latin typeface="Aptos"/>
              </a:defRPr>
            </a:pPr>
            <a:r>
              <a:t>No cross-customer leak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38744" y="2606040"/>
            <a:ext cx="3108960" cy="2148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96B4CC"/>
                </a:solidFill>
                <a:latin typeface="Aptos"/>
              </a:defRPr>
            </a:pPr>
            <a:r>
              <a:t>Unscoped ambiguity returns NEEDS CLARIFICATION. API routes reject a case/customer-context ownership mismatch with 403.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D6B0"/>
                </a:solidFill>
                <a:latin typeface="Aptos"/>
              </a:defRPr>
            </a:pPr>
            <a:r>
              <a:t>LIVE DEMO: ADAPTATION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EF6FD"/>
                </a:solidFill>
                <a:latin typeface="Aptos"/>
              </a:defRPr>
            </a:pPr>
            <a:r>
              <a:t>A customer asks for a replacement. The system discovers it cannot fulfil one.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89888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96B4CC"/>
                </a:solidFill>
                <a:latin typeface="Aptos"/>
              </a:defRPr>
            </a:pPr>
            <a:r>
              <a:t>Use CASE-100: “My headphones arrived damaged and I want a replacement.”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011680"/>
            <a:ext cx="10241280" cy="576072"/>
          </a:xfrm>
          <a:prstGeom prst="roundRect">
            <a:avLst/>
          </a:prstGeom>
          <a:solidFill>
            <a:srgbClr val="0D2033"/>
          </a:solidFill>
          <a:ln>
            <a:solidFill>
              <a:srgbClr val="0D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" y="213055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4A9FF"/>
                </a:solidFill>
                <a:latin typeface="Aptos"/>
              </a:defRPr>
            </a:pPr>
            <a:r>
              <a:t>Policy RAG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90672" y="2139696"/>
            <a:ext cx="74980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96B4CC"/>
                </a:solidFill>
                <a:latin typeface="Aptos"/>
              </a:defRPr>
            </a:pPr>
            <a:r>
              <a:t>Retrieves damage, replacement and refund policy 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798064"/>
            <a:ext cx="10241280" cy="576072"/>
          </a:xfrm>
          <a:prstGeom prst="roundRect">
            <a:avLst/>
          </a:prstGeom>
          <a:solidFill>
            <a:srgbClr val="0D2033"/>
          </a:solidFill>
          <a:ln>
            <a:solidFill>
              <a:srgbClr val="0D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2916936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6B73"/>
                </a:solidFill>
                <a:latin typeface="Aptos"/>
              </a:defRPr>
            </a:pPr>
            <a:r>
              <a:t>Inventory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90672" y="2926080"/>
            <a:ext cx="74980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96B4CC"/>
                </a:solidFill>
                <a:latin typeface="Aptos"/>
              </a:defRPr>
            </a:pPr>
            <a:r>
              <a:t>Zero available headphones across warehouses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584448"/>
            <a:ext cx="10241280" cy="576072"/>
          </a:xfrm>
          <a:prstGeom prst="roundRect">
            <a:avLst/>
          </a:prstGeom>
          <a:solidFill>
            <a:srgbClr val="0D2033"/>
          </a:solidFill>
          <a:ln>
            <a:solidFill>
              <a:srgbClr val="0D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0432" y="370332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7B955"/>
                </a:solidFill>
                <a:latin typeface="Aptos"/>
              </a:defRPr>
            </a:pPr>
            <a:r>
              <a:t>Replan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90672" y="3712463"/>
            <a:ext cx="74980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96B4CC"/>
                </a:solidFill>
                <a:latin typeface="Aptos"/>
              </a:defRPr>
            </a:pPr>
            <a:r>
              <a:t>Replacement is blocked; evaluate refund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370832"/>
            <a:ext cx="10241280" cy="576072"/>
          </a:xfrm>
          <a:prstGeom prst="roundRect">
            <a:avLst/>
          </a:prstGeom>
          <a:solidFill>
            <a:srgbClr val="0D2033"/>
          </a:solidFill>
          <a:ln>
            <a:solidFill>
              <a:srgbClr val="0D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0432" y="448970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D6B0"/>
                </a:solidFill>
                <a:latin typeface="Aptos"/>
              </a:defRPr>
            </a:pPr>
            <a:r>
              <a:t>Refund + verify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4498848"/>
            <a:ext cx="74980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96B4CC"/>
                </a:solidFill>
                <a:latin typeface="Aptos"/>
              </a:defRPr>
            </a:pPr>
            <a:r>
              <a:t>Payment ledger transitions and independent check passes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D6B0"/>
                </a:solidFill>
                <a:latin typeface="Aptos"/>
              </a:defRPr>
            </a:pPr>
            <a:r>
              <a:t>LIVE EVIDENCE SURFACES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EF6FD"/>
                </a:solidFill>
                <a:latin typeface="Aptos"/>
              </a:defRPr>
            </a:pPr>
            <a:r>
              <a:t>The demo makes every claim inspectable.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89888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96B4CC"/>
                </a:solidFill>
                <a:latin typeface="Aptos"/>
              </a:defRPr>
            </a:pPr>
            <a:r>
              <a:t>React SSE trace is the presentation view; Streamlit remains the operations console.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057400"/>
            <a:ext cx="3520440" cy="2560320"/>
          </a:xfrm>
          <a:prstGeom prst="roundRect">
            <a:avLst/>
          </a:prstGeom>
          <a:solidFill>
            <a:srgbClr val="0D2033"/>
          </a:solidFill>
          <a:ln>
            <a:solidFill>
              <a:srgbClr val="0D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2057400"/>
            <a:ext cx="64008" cy="2560320"/>
          </a:xfrm>
          <a:prstGeom prst="rect">
            <a:avLst/>
          </a:prstGeom>
          <a:solidFill>
            <a:srgbClr val="38D6B0"/>
          </a:solidFill>
          <a:ln>
            <a:solidFill>
              <a:srgbClr val="38D6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2221992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EF6FD"/>
                </a:solidFill>
                <a:latin typeface="Aptos"/>
              </a:defRPr>
            </a:pPr>
            <a:r>
              <a:t>Agent trace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606040"/>
            <a:ext cx="3108960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96B4CC"/>
                </a:solidFill>
                <a:latin typeface="Aptos"/>
              </a:defRPr>
            </a:pPr>
            <a:r>
              <a:t>Turn-by-turn reasoning, tool selected, structured result, adaptation, and terminal outcome arrive over Server-Sent Events.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4256" y="2057400"/>
            <a:ext cx="3520440" cy="2560320"/>
          </a:xfrm>
          <a:prstGeom prst="roundRect">
            <a:avLst/>
          </a:prstGeom>
          <a:solidFill>
            <a:srgbClr val="0D2033"/>
          </a:solidFill>
          <a:ln>
            <a:solidFill>
              <a:srgbClr val="0D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34256" y="2057400"/>
            <a:ext cx="64008" cy="2560320"/>
          </a:xfrm>
          <a:prstGeom prst="rect">
            <a:avLst/>
          </a:prstGeom>
          <a:solidFill>
            <a:srgbClr val="54A9FF"/>
          </a:solidFill>
          <a:ln>
            <a:solidFill>
              <a:srgbClr val="54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2856" y="2221992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EF6FD"/>
                </a:solidFill>
                <a:latin typeface="Aptos"/>
              </a:defRPr>
            </a:pPr>
            <a:r>
              <a:t>Policy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2856" y="2606040"/>
            <a:ext cx="3108960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96B4CC"/>
                </a:solidFill>
                <a:latin typeface="Aptos"/>
              </a:defRPr>
            </a:pPr>
            <a:r>
              <a:t>Retrieved policy snippets and similarity scores are shown beside the trace—RAG is observable, not decorative.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0144" y="2057400"/>
            <a:ext cx="3520440" cy="2560320"/>
          </a:xfrm>
          <a:prstGeom prst="roundRect">
            <a:avLst/>
          </a:prstGeom>
          <a:solidFill>
            <a:srgbClr val="0D2033"/>
          </a:solidFill>
          <a:ln>
            <a:solidFill>
              <a:srgbClr val="0D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10144" y="2057400"/>
            <a:ext cx="64008" cy="2560320"/>
          </a:xfrm>
          <a:prstGeom prst="rect">
            <a:avLst/>
          </a:prstGeom>
          <a:solidFill>
            <a:srgbClr val="F7B955"/>
          </a:solidFill>
          <a:ln>
            <a:solidFill>
              <a:srgbClr val="F7B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38744" y="2221992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EF6FD"/>
                </a:solidFill>
                <a:latin typeface="Aptos"/>
              </a:defRPr>
            </a:pPr>
            <a:r>
              <a:t>State &amp; audit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38744" y="2606040"/>
            <a:ext cx="3108960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96B4CC"/>
                </a:solidFill>
                <a:latin typeface="Aptos"/>
              </a:defRPr>
            </a:pPr>
            <a:r>
              <a:t>Authoritative order/payment/inventory snapshot plus persistent before → after audit rows and independent verification.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D6B0"/>
                </a:solidFill>
                <a:latin typeface="Aptos"/>
              </a:defRPr>
            </a:pPr>
            <a:r>
              <a:t>PROOF, RESILIENCE &amp;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EF6FD"/>
                </a:solidFill>
                <a:latin typeface="Aptos"/>
              </a:defRPr>
            </a:pPr>
            <a:r>
              <a:t>Built to show exactly what happened when a tool or provider fails.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89888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96B4CC"/>
                </a:solidFill>
                <a:latin typeface="Aptos"/>
              </a:defRPr>
            </a:pPr>
            <a:r>
              <a:t>A visible fallback is safer than a silent downgrade.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057400"/>
            <a:ext cx="3520440" cy="2651760"/>
          </a:xfrm>
          <a:prstGeom prst="roundRect">
            <a:avLst/>
          </a:prstGeom>
          <a:solidFill>
            <a:srgbClr val="0D2033"/>
          </a:solidFill>
          <a:ln>
            <a:solidFill>
              <a:srgbClr val="0D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2057400"/>
            <a:ext cx="64008" cy="2651760"/>
          </a:xfrm>
          <a:prstGeom prst="rect">
            <a:avLst/>
          </a:prstGeom>
          <a:solidFill>
            <a:srgbClr val="FF6B73"/>
          </a:solidFill>
          <a:ln>
            <a:solidFill>
              <a:srgbClr val="FF6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2221992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EF6FD"/>
                </a:solidFill>
                <a:latin typeface="Aptos"/>
              </a:defRPr>
            </a:pPr>
            <a:r>
              <a:t>Provider resilience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60604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96B4CC"/>
                </a:solidFill>
                <a:latin typeface="Aptos"/>
              </a:defRPr>
            </a:pPr>
            <a:r>
              <a:t>Gemini and OpenRouter receive one retry. Quota-limited providers cool down; offline test stub is visibly labeled—not presented as live reasoning.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4256" y="2057400"/>
            <a:ext cx="3520440" cy="2651760"/>
          </a:xfrm>
          <a:prstGeom prst="roundRect">
            <a:avLst/>
          </a:prstGeom>
          <a:solidFill>
            <a:srgbClr val="0D2033"/>
          </a:solidFill>
          <a:ln>
            <a:solidFill>
              <a:srgbClr val="0D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34256" y="2057400"/>
            <a:ext cx="64008" cy="2651760"/>
          </a:xfrm>
          <a:prstGeom prst="rect">
            <a:avLst/>
          </a:prstGeom>
          <a:solidFill>
            <a:srgbClr val="38D6B0"/>
          </a:solidFill>
          <a:ln>
            <a:solidFill>
              <a:srgbClr val="38D6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2856" y="2221992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EF6FD"/>
                </a:solidFill>
                <a:latin typeface="Aptos"/>
              </a:defRPr>
            </a:pPr>
            <a:r>
              <a:t>Test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2856" y="260604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96B4CC"/>
                </a:solidFill>
                <a:latin typeface="Aptos"/>
              </a:defRPr>
            </a:pPr>
            <a:r>
              <a:t>27 passing tests cover golden flows, policy date math, partial refund, policy retrieval, Bitext paraphrases, cross-customer isolation, and API ownership checks.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0144" y="2057400"/>
            <a:ext cx="3520440" cy="2651760"/>
          </a:xfrm>
          <a:prstGeom prst="roundRect">
            <a:avLst/>
          </a:prstGeom>
          <a:solidFill>
            <a:srgbClr val="0D2033"/>
          </a:solidFill>
          <a:ln>
            <a:solidFill>
              <a:srgbClr val="0D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10144" y="2057400"/>
            <a:ext cx="64008" cy="2651760"/>
          </a:xfrm>
          <a:prstGeom prst="rect">
            <a:avLst/>
          </a:prstGeom>
          <a:solidFill>
            <a:srgbClr val="54A9FF"/>
          </a:solidFill>
          <a:ln>
            <a:solidFill>
              <a:srgbClr val="54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38744" y="2221992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EF6FD"/>
                </a:solidFill>
                <a:latin typeface="Aptos"/>
              </a:defRPr>
            </a:pPr>
            <a:r>
              <a:t>Run anywhere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38744" y="260604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96B4CC"/>
                </a:solidFill>
                <a:latin typeface="Aptos"/>
              </a:defRPr>
            </a:pPr>
            <a:r>
              <a:t>FastAPI API · React SSE demo · Streamlit ops view · Docker Compose · GitHub Actions CI · synthetic SQLite system of record.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D6B0"/>
                </a:solidFill>
                <a:latin typeface="Aptos"/>
              </a:defRPr>
            </a:pPr>
            <a:r>
              <a:t>WHY RESOLVEAI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EF6FD"/>
                </a:solidFill>
                <a:latin typeface="Aptos"/>
              </a:defRPr>
            </a:pPr>
            <a:r>
              <a:t>It resolves outcomes—and proves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89888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96B4CC"/>
                </a:solidFill>
                <a:latin typeface="Aptos"/>
              </a:defRPr>
            </a:pPr>
            <a:r>
              <a:t>The differentiator is not a fluent answer. It is a controlled, verified operational loop.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59152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8D6B0"/>
                </a:solidFill>
                <a:latin typeface="Aptos"/>
              </a:defRPr>
            </a:pPr>
            <a:r>
              <a:t>Investigate real state  →  choose a safe tool  →  adapt to constraints  →  verify the database effect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88620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6B4CC"/>
                </a:solidFill>
                <a:latin typeface="Aptos"/>
              </a:defRPr>
            </a:pPr>
            <a:r>
              <a:t>Demo URLs: React live trace :5173 · Streamlit ops :8501 · API health :8000/healthz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1206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EEF6FD"/>
                </a:solidFill>
                <a:latin typeface="Aptos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